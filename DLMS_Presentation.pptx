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Patients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C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7</c:v>
                </c:pt>
                <c:pt idx="2">
                  <c:v>5</c:v>
                </c:pt>
                <c:pt idx="3">
                  <c:v>9</c:v>
                </c:pt>
                <c:pt idx="4">
                  <c:v>4</c:v>
                </c:pt>
                <c:pt idx="5">
                  <c:v>12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C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0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0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E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F7C94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Paid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A1E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548640"/>
            <a:ext cx="2743200" cy="320040"/>
          </a:xfrm>
          <a:prstGeom prst="roundRect">
            <a:avLst>
              <a:gd name="adj" fmla="val 42857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566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D4AA"/>
                </a:solidFill>
              </a:rPr>
              <a:t>● DIAGNOSTIC LAB MANAGEMENT SYSTEM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DLMS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Laboratory Management System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200400" y="2743200"/>
            <a:ext cx="27432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real-time, Firebase-powered lab management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52044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5387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Patient Management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10512" y="352044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4F8EF7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810512" y="35387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</a:rPr>
              <a:t>Test Catalog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9544" y="352044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F7C94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9544" y="35387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C94F"/>
                </a:solidFill>
              </a:rPr>
              <a:t>Appointments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352044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A78BF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35387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Reports + PDF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07608" y="352044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07608" y="35387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Billing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06640" y="352044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F75F5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353872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5F5F"/>
                </a:solidFill>
              </a:rPr>
              <a:t>Analytics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Firebase  |  Single-file Web App  |  Real-time Sync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0A8"/>
                </a:solidFill>
              </a:rPr>
              <a:t>What is DLMS and why it matters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29260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2926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DLMS?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DLMS is a fully functional, single-file web application for managing diagnostic labs. It replaces paper-based or disconnected tools with a unified, real-time dashboard.
</a:t>
            </a:r>
            <a:pPr indent="0" marL="0">
              <a:buNone/>
            </a:pPr>
            <a:r>
              <a:rPr lang="en-US" sz="10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CSS, and Vanilla JavaScript — no frameworks required. Firebase serves as the real-time backend for authentication and data storage.
</a:t>
            </a:r>
            <a:pPr indent="0" marL="0">
              <a:buNone/>
            </a:pPr>
            <a:r>
              <a:rPr lang="en-US" sz="10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covers the entire patient journey: from registration to test booking, sample collection, report generation, and final billing.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1965960" cy="13258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43000"/>
            <a:ext cx="19659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3258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19476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12280" y="1143000"/>
            <a:ext cx="1965960" cy="13258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12280" y="1143000"/>
            <a:ext cx="196596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3258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9476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Firebase-Powered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1965960" cy="13258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651760"/>
            <a:ext cx="1965960" cy="36576"/>
          </a:xfrm>
          <a:prstGeom prst="rect">
            <a:avLst/>
          </a:prstGeom>
          <a:solidFill>
            <a:srgbClr val="F7C94F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834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C9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63440" y="34564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Invoice Export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2651760"/>
            <a:ext cx="1965960" cy="13258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2651760"/>
            <a:ext cx="196596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834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File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12280" y="34564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App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2793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37360" y="4315968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F75F5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737360" y="4334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5F5F"/>
                </a:solidFill>
              </a:rPr>
              <a:t>HTML5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0" y="4315968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4F8EF7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0" y="4334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8EF7"/>
                </a:solidFill>
              </a:rPr>
              <a:t>CSS3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49040" y="4315968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F7C94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4334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C94F"/>
                </a:solidFill>
              </a:rPr>
              <a:t>Vanilla JS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54880" y="4315968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334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</a:rPr>
              <a:t>Firebase Auth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760720" y="4315968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4334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</a:rPr>
              <a:t>Cloud Firestore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766560" y="4315968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A78BFA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4334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jsPDF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772400" y="4315968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4F8EF7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4334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8EF7"/>
                </a:solidFill>
              </a:rPr>
              <a:t>Chart.js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Authentication &amp; Landing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32004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DLMS  |  Sign 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Diagnostic Lab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Complete platform for managing patients, tests,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appointments, reports, and billing.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3090672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0F14"/>
                </a:solidFill>
              </a:rPr>
              <a:t>Get Started — Sign in with Google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4023360" cy="45720"/>
          </a:xfrm>
          <a:prstGeom prst="rect">
            <a:avLst/>
          </a:prstGeom>
          <a:solidFill>
            <a:srgbClr val="25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9502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Modules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876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9502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Patients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1460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39502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Export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2044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39502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Sync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17720" y="1005840"/>
            <a:ext cx="4114800" cy="71323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1078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13167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Firebase Authentication with Google OAuth. No passwords to manage — secure, fast, and familiar.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1847088"/>
            <a:ext cx="4114800" cy="71323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19385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1920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Display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1579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the sidebar shows the user's Google profile picture, full name, and email address.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2688336"/>
            <a:ext cx="4114800" cy="71323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797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🚪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27614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9992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is completely hidden until authentication completes. Landing page guards all main routes.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3529584"/>
            <a:ext cx="4114800" cy="71323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36210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12080" y="36027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Landing Page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3840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glow animations, hero badge, feature pills, and smooth fade-in transitions on load.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&amp; Navigation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0A8"/>
                </a:solidFill>
              </a:rPr>
              <a:t>Central command center — everything at a glance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645920" cy="374904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DLMS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" y="1536192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536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0A8"/>
                </a:solidFill>
              </a:rPr>
              <a:t>User Name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890A8"/>
                </a:solidFill>
              </a:rPr>
              <a:t>user@email.com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1645920" cy="301752"/>
          </a:xfrm>
          <a:prstGeom prst="rect">
            <a:avLst/>
          </a:prstGeom>
          <a:solidFill>
            <a:srgbClr val="00D4AA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116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</a:rPr>
              <a:t>Dashboard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Patients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Tests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Appointments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332841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Samples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Reports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9867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Billing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431596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Analytics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94560" y="1097280"/>
            <a:ext cx="1280160" cy="10515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94560" y="109728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11612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94560" y="1481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94560" y="1847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Total Patients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584448" y="1097280"/>
            <a:ext cx="1280160" cy="10515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84448" y="1097280"/>
            <a:ext cx="128016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24" name="Text 22"/>
          <p:cNvSpPr/>
          <p:nvPr/>
        </p:nvSpPr>
        <p:spPr>
          <a:xfrm>
            <a:off x="3584448" y="11612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84448" y="1481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84448" y="1847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Total Tests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74336" y="1097280"/>
            <a:ext cx="1280160" cy="10515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74336" y="1097280"/>
            <a:ext cx="1280160" cy="36576"/>
          </a:xfrm>
          <a:prstGeom prst="rect">
            <a:avLst/>
          </a:prstGeom>
          <a:solidFill>
            <a:srgbClr val="F7C94F"/>
          </a:solidFill>
          <a:ln/>
        </p:spPr>
      </p:sp>
      <p:sp>
        <p:nvSpPr>
          <p:cNvPr id="29" name="Text 27"/>
          <p:cNvSpPr/>
          <p:nvPr/>
        </p:nvSpPr>
        <p:spPr>
          <a:xfrm>
            <a:off x="4974336" y="11612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74336" y="1481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C9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974336" y="1847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Appointments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64224" y="1097280"/>
            <a:ext cx="1280160" cy="10515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64224" y="109728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11612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64224" y="1481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₹84K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364224" y="1847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Revenue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754112" y="1097280"/>
            <a:ext cx="1280160" cy="10515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54112" y="1097280"/>
            <a:ext cx="1280160" cy="36576"/>
          </a:xfrm>
          <a:prstGeom prst="rect">
            <a:avLst/>
          </a:prstGeom>
          <a:solidFill>
            <a:srgbClr val="F75F5F"/>
          </a:solidFill>
          <a:ln/>
        </p:spPr>
      </p:sp>
      <p:sp>
        <p:nvSpPr>
          <p:cNvPr id="39" name="Text 37"/>
          <p:cNvSpPr/>
          <p:nvPr/>
        </p:nvSpPr>
        <p:spPr>
          <a:xfrm>
            <a:off x="7754112" y="11612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⏳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54112" y="1481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5F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754112" y="18470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Pending Reports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194560" y="2286000"/>
            <a:ext cx="4069080" cy="24688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3317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59152" y="2843784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5" name="Text 43"/>
          <p:cNvSpPr/>
          <p:nvPr/>
        </p:nvSpPr>
        <p:spPr>
          <a:xfrm>
            <a:off x="2514600" y="2788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Added new patient Rahul Sharma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299008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E78"/>
                </a:solidFill>
              </a:rPr>
              <a:t>2m ago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359152" y="3209544"/>
            <a:ext cx="91440" cy="9144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48" name="Text 46"/>
          <p:cNvSpPr/>
          <p:nvPr/>
        </p:nvSpPr>
        <p:spPr>
          <a:xfrm>
            <a:off x="2514600" y="3154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Booked appointment — CBC test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35584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E78"/>
                </a:solidFill>
              </a:rPr>
              <a:t>15m ago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359152" y="3575304"/>
            <a:ext cx="91440" cy="91440"/>
          </a:xfrm>
          <a:prstGeom prst="ellipse">
            <a:avLst/>
          </a:prstGeom>
          <a:solidFill>
            <a:srgbClr val="F7C94F"/>
          </a:solidFill>
          <a:ln/>
        </p:spPr>
      </p:sp>
      <p:sp>
        <p:nvSpPr>
          <p:cNvPr id="51" name="Text 49"/>
          <p:cNvSpPr/>
          <p:nvPr/>
        </p:nvSpPr>
        <p:spPr>
          <a:xfrm>
            <a:off x="2514600" y="35204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Report marked completed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72160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E78"/>
                </a:solidFill>
              </a:rPr>
              <a:t>1h ago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359152" y="3941064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4" name="Text 52"/>
          <p:cNvSpPr/>
          <p:nvPr/>
        </p:nvSpPr>
        <p:spPr>
          <a:xfrm>
            <a:off x="2514600" y="3886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Bill generated — ₹1,200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14600" y="408736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E78"/>
                </a:solidFill>
              </a:rPr>
              <a:t>3h ago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359152" y="4306824"/>
            <a:ext cx="91440" cy="91440"/>
          </a:xfrm>
          <a:prstGeom prst="ellipse">
            <a:avLst/>
          </a:prstGeom>
          <a:solidFill>
            <a:srgbClr val="F75F5F"/>
          </a:solidFill>
          <a:ln/>
        </p:spPr>
      </p:sp>
      <p:sp>
        <p:nvSpPr>
          <p:cNvPr id="57" name="Text 55"/>
          <p:cNvSpPr/>
          <p:nvPr/>
        </p:nvSpPr>
        <p:spPr>
          <a:xfrm>
            <a:off x="2514600" y="4251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Patient record updated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514600" y="445312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E78"/>
                </a:solidFill>
              </a:rPr>
              <a:t>5h ago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446520" y="2286000"/>
            <a:ext cx="2286000" cy="24688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53796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510528" y="2788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141720"/>
          </a:solidFill>
          <a:ln/>
        </p:spPr>
      </p:sp>
      <p:sp>
        <p:nvSpPr>
          <p:cNvPr id="62" name="Text 60"/>
          <p:cNvSpPr/>
          <p:nvPr/>
        </p:nvSpPr>
        <p:spPr>
          <a:xfrm>
            <a:off x="6510528" y="28072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10528" y="3035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Add Patient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589520" y="2788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141720"/>
          </a:solidFill>
          <a:ln/>
        </p:spPr>
      </p:sp>
      <p:sp>
        <p:nvSpPr>
          <p:cNvPr id="65" name="Text 63"/>
          <p:cNvSpPr/>
          <p:nvPr/>
        </p:nvSpPr>
        <p:spPr>
          <a:xfrm>
            <a:off x="7589520" y="28072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🧪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589520" y="3035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Add Test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510528" y="3355848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141720"/>
          </a:solidFill>
          <a:ln/>
        </p:spPr>
      </p:sp>
      <p:sp>
        <p:nvSpPr>
          <p:cNvPr id="68" name="Text 66"/>
          <p:cNvSpPr/>
          <p:nvPr/>
        </p:nvSpPr>
        <p:spPr>
          <a:xfrm>
            <a:off x="6510528" y="33741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📅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510528" y="36027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Book Appt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589520" y="3355848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141720"/>
          </a:solidFill>
          <a:ln/>
        </p:spPr>
      </p:sp>
      <p:sp>
        <p:nvSpPr>
          <p:cNvPr id="71" name="Text 69"/>
          <p:cNvSpPr/>
          <p:nvPr/>
        </p:nvSpPr>
        <p:spPr>
          <a:xfrm>
            <a:off x="7589520" y="33741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589520" y="36027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Add Report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510528" y="3922776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141720"/>
          </a:solidFill>
          <a:ln/>
        </p:spPr>
      </p:sp>
      <p:sp>
        <p:nvSpPr>
          <p:cNvPr id="74" name="Text 72"/>
          <p:cNvSpPr/>
          <p:nvPr/>
        </p:nvSpPr>
        <p:spPr>
          <a:xfrm>
            <a:off x="6510528" y="39410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💵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510528" y="41696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New Bill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589520" y="3922776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141720"/>
          </a:solidFill>
          <a:ln/>
        </p:spPr>
      </p:sp>
      <p:sp>
        <p:nvSpPr>
          <p:cNvPr id="77" name="Text 75"/>
          <p:cNvSpPr/>
          <p:nvPr/>
        </p:nvSpPr>
        <p:spPr>
          <a:xfrm>
            <a:off x="7589520" y="39410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589520" y="41696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Analytics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E2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576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0A8"/>
                </a:solidFill>
              </a:rPr>
              <a:t>Complete patient registry with CRUD, search, sort, and pagination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51760" cy="11887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26517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161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Patient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4356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form: name, age, gender, phone, address with validation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651760" cy="11887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51560"/>
            <a:ext cx="26517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94760" y="1161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Record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94760" y="14356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modal editing — all fields pre-filled from Firestore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51760" cy="11887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🗑️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29400" y="1161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Delete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29400" y="14356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popup prevents accidental data loss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404872"/>
            <a:ext cx="2651760" cy="11887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404872"/>
            <a:ext cx="26517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name, phone, and address as you type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2404872"/>
            <a:ext cx="2651760" cy="11887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404872"/>
            <a:ext cx="26517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↕️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79476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Columns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9476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column header to sort A→Z or Z→A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404872"/>
            <a:ext cx="2651760" cy="11887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404872"/>
            <a:ext cx="26517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614476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2940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2940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records per page with full navigation controls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3858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AA"/>
                </a:solidFill>
              </a:rPr>
              <a:t>SAMPLE TABLE PREVIEW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4087368"/>
            <a:ext cx="1344168" cy="22860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105656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890A8"/>
                </a:solidFill>
              </a:rPr>
              <a:t>NAME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783080" y="4087368"/>
            <a:ext cx="521208" cy="22860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2" name="Text 40"/>
          <p:cNvSpPr/>
          <p:nvPr/>
        </p:nvSpPr>
        <p:spPr>
          <a:xfrm>
            <a:off x="1783080" y="4105656"/>
            <a:ext cx="521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890A8"/>
                </a:solidFill>
              </a:rPr>
              <a:t>AGE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331720" y="4087368"/>
            <a:ext cx="704088" cy="22860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4" name="Text 42"/>
          <p:cNvSpPr/>
          <p:nvPr/>
        </p:nvSpPr>
        <p:spPr>
          <a:xfrm>
            <a:off x="2331720" y="4105656"/>
            <a:ext cx="704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890A8"/>
                </a:solidFill>
              </a:rPr>
              <a:t>GENDER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63240" y="4087368"/>
            <a:ext cx="886968" cy="22860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6" name="Text 44"/>
          <p:cNvSpPr/>
          <p:nvPr/>
        </p:nvSpPr>
        <p:spPr>
          <a:xfrm>
            <a:off x="3063240" y="4105656"/>
            <a:ext cx="886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890A8"/>
                </a:solidFill>
              </a:rPr>
              <a:t>PHONE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977640" y="4087368"/>
            <a:ext cx="1252728" cy="22860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48" name="Text 46"/>
          <p:cNvSpPr/>
          <p:nvPr/>
        </p:nvSpPr>
        <p:spPr>
          <a:xfrm>
            <a:off x="3977640" y="4105656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890A8"/>
                </a:solidFill>
              </a:rPr>
              <a:t>ADDRESS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257800" y="4087368"/>
            <a:ext cx="886968" cy="22860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50" name="Text 48"/>
          <p:cNvSpPr/>
          <p:nvPr/>
        </p:nvSpPr>
        <p:spPr>
          <a:xfrm>
            <a:off x="5257800" y="4105656"/>
            <a:ext cx="886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890A8"/>
                </a:solidFill>
              </a:rPr>
              <a:t>REGISTERED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172200" y="4087368"/>
            <a:ext cx="1344168" cy="22860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52" name="Text 50"/>
          <p:cNvSpPr/>
          <p:nvPr/>
        </p:nvSpPr>
        <p:spPr>
          <a:xfrm>
            <a:off x="6172200" y="4105656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890A8"/>
                </a:solidFill>
              </a:rPr>
              <a:t>ACTIONS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11480" y="4343400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Jatin Gupta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783080" y="4343400"/>
            <a:ext cx="521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21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331720" y="4343400"/>
            <a:ext cx="704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Male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063240" y="434340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8747448484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977640" y="4343400"/>
            <a:ext cx="1252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Bareilly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57800" y="4343400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21/04/2026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72200" y="4343400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</a:rPr>
              <a:t>✏️ 🗑️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&amp; Appointment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</a:rPr>
              <a:t>Manage your lab test catalog and schedule patient appointments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52A3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solidFill>
            <a:srgbClr val="4F8EF7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521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</a:rPr>
              <a:t>🧪  TEST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93192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6367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</a:rPr>
              <a:t>Test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36192" y="163677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Full name like CBC, Lipid Profile, Blood Sugar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393192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0482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36192" y="204825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Brief explanation of what the test covers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393192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4597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</a:rPr>
              <a:t>Cost (₹)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36192" y="24597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Auto-used in billing when test is selected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807208"/>
            <a:ext cx="393192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8712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</a:rPr>
              <a:t>Edit / Delete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36192" y="287121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Inline editing with safe delete confirmation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393192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32826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</a:rPr>
              <a:t>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36192" y="328269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Real-time filter across name and description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630168"/>
            <a:ext cx="393192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36941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</a:rPr>
              <a:t>CSV Export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36192" y="369417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Export full test catalog to spreadsheet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solidFill>
            <a:srgbClr val="F7C94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152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94F"/>
                </a:solidFill>
              </a:rPr>
              <a:t>📅  APPOINTMENT 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572768"/>
            <a:ext cx="411480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6367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</a:rPr>
              <a:t>👤 Select Patient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163677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Dropdown populated from Firestore patients collection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1984248"/>
            <a:ext cx="411480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20482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</a:rPr>
              <a:t>🧪 Select Test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204825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Dropdown from test catalog — auto-fetches cost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2395728"/>
            <a:ext cx="411480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245973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</a:rPr>
              <a:t>📅 Date &amp; Time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45973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Native date/time pickers with format validation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2807208"/>
            <a:ext cx="411480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63440" y="28712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</a:rPr>
              <a:t>🔄 Status Tracking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287121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Pending → Completed with one-click update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218688"/>
            <a:ext cx="411480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63440" y="328269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</a:rPr>
              <a:t>📅 Date Filter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72200" y="32826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Filter all appointments by specific calendar date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0" y="3630168"/>
            <a:ext cx="4114800" cy="3474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36941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</a:rPr>
              <a:t>⬇️ CSV Export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72200" y="369417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</a:rPr>
              <a:t>Export complete appointment list to spreadsheet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Collection &amp; Reports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</a:rPr>
              <a:t>Track samples in real-time and generate downloadable PDF lab reports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solidFill>
            <a:srgbClr val="A78BF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155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🧫  SAMPLE COLLECTION TRACKING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011680" cy="9601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36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Appointments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21214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appointment auto-appears in the sample tracker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14600" y="1481328"/>
            <a:ext cx="2011680" cy="9601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536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865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Collected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7752" y="21214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'Mark Collected' button updates status instantly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1481328"/>
            <a:ext cx="2011680" cy="9601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536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1865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Tracking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6592" y="21214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collection time recorded via Firebase server timestamp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12280" y="1481328"/>
            <a:ext cx="2011680" cy="9601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536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1865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85432" y="21214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Color-coded: green = Collected, red = Not Collected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578608"/>
            <a:ext cx="8412480" cy="347472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6517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📄  REPORTS MANAGEMENT + PDF EXPORT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999232"/>
            <a:ext cx="4114800" cy="17830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Fields &amp; Controls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4015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patient and test from dropdowns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result / findings in rich textarea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39136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status: Pending or Completed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1696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upgrade: mark Pending → Completed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4256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reports by patient name or test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681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of all report records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999232"/>
            <a:ext cx="4114800" cy="17830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999232"/>
            <a:ext cx="4114800" cy="365760"/>
          </a:xfrm>
          <a:prstGeom prst="rect">
            <a:avLst/>
          </a:prstGeom>
          <a:solidFill>
            <a:srgbClr val="00D4AA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0540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F14"/>
                </a:solidFill>
              </a:rPr>
              <a:t>DLMS — Lab Report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310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1720"/>
                </a:solidFill>
              </a:rPr>
              <a:t>Diagnostic Laboratory Management System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4880" y="3547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0A8"/>
                </a:solidFill>
              </a:rPr>
              <a:t>Patient Name: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89320" y="35478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Jatin Gupta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7764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0A8"/>
                </a:solidFill>
              </a:rPr>
              <a:t>Test: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89320" y="3749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Complete Blood Count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4005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0A8"/>
                </a:solidFill>
              </a:rPr>
              <a:t>Status: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89320" y="39502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Completed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4233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0A8"/>
                </a:solidFill>
              </a:rPr>
              <a:t>Date: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89320" y="41513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CF5"/>
                </a:solidFill>
              </a:rPr>
              <a:t>21/04/2026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4572000"/>
            <a:ext cx="4114800" cy="164592"/>
          </a:xfrm>
          <a:prstGeom prst="rect">
            <a:avLst/>
          </a:prstGeom>
          <a:solidFill>
            <a:srgbClr val="252A3A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4608576"/>
            <a:ext cx="3931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55E78"/>
                </a:solidFill>
              </a:rPr>
              <a:t>📄 PDF  →  jsPDF library via CDN | Styled header, result block, footer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7C94F">
              <a:alpha val="10000"/>
            </a:srgbClr>
          </a:solidFill>
          <a:ln w="12700">
            <a:solidFill>
              <a:srgbClr val="F7C9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Billing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</a:rPr>
              <a:t>Auto-calculated bills, payment tracking, and downloadable invoices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97480" cy="8229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269748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₹1,24,500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Total Revenue (Paid)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2697480" cy="8229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78992"/>
            <a:ext cx="2697480" cy="36576"/>
          </a:xfrm>
          <a:prstGeom prst="rect">
            <a:avLst/>
          </a:prstGeom>
          <a:solidFill>
            <a:srgbClr val="F7C94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1430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C9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₹18,200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46120" y="15819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Pending Amount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78992"/>
            <a:ext cx="2697480" cy="8229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78992"/>
            <a:ext cx="26974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1430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158191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Total Bills Generated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4114800" cy="26517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12140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254203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Patient Select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all registered patients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79806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Multi-Test Select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Ctrl to pick multiple tests at once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054096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Auto Total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auto-calculated from selected tests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 Status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Paid or Unpaid on creation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Mark Paid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payment status with one click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82219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Invoice PDF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styled invoice with jsPDF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07822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Bills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filter by patient name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334256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CSV Export  </a:t>
            </a:r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billing records to spreadsheet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029968"/>
            <a:ext cx="4114800" cy="265176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029968"/>
            <a:ext cx="4114800" cy="438912"/>
          </a:xfrm>
          <a:prstGeom prst="rect">
            <a:avLst/>
          </a:prstGeom>
          <a:solidFill>
            <a:srgbClr val="4F8EF7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084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4"/>
                </a:solidFill>
              </a:rPr>
              <a:t>DLMS — Invoice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3408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41720"/>
                </a:solidFill>
              </a:rPr>
              <a:t>Diagnostic Laboratory Management System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54880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</a:rPr>
              <a:t>Bill To:  Jatin Gupta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852928"/>
            <a:ext cx="4114800" cy="27432"/>
          </a:xfrm>
          <a:prstGeom prst="rect">
            <a:avLst/>
          </a:prstGeom>
          <a:solidFill>
            <a:srgbClr val="252A3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Complete Blood Count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06640" y="2926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CF5"/>
                </a:solidFill>
              </a:rPr>
              <a:t>₹800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3200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Lipid Profile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3200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CF5"/>
                </a:solidFill>
              </a:rPr>
              <a:t>₹600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</a:rPr>
              <a:t>Blood Sugar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06640" y="3474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CF5"/>
                </a:solidFill>
              </a:rPr>
              <a:t>₹200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749040"/>
            <a:ext cx="4114800" cy="274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813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</a:rPr>
              <a:t>TOTAL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38130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₹1,600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416052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0D4AA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1879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AA"/>
                </a:solidFill>
              </a:rPr>
              <a:t>✅  PAID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Analytics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</a:rPr>
              <a:t>Data-driven insights powered by Chart.js — revenue, patient trends, and top tests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97480" cy="77724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15568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₹1.2L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0A8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78992"/>
            <a:ext cx="2697480" cy="77724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78992"/>
            <a:ext cx="54864" cy="77724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15568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8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CBC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1536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0A8"/>
                </a:solidFill>
              </a:rPr>
              <a:t>Most Common Test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078992"/>
            <a:ext cx="2697480" cy="77724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78992"/>
            <a:ext cx="54864" cy="777240"/>
          </a:xfrm>
          <a:prstGeom prst="rect">
            <a:avLst/>
          </a:prstGeom>
          <a:solidFill>
            <a:srgbClr val="F7C94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15568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C9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1536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0A8"/>
                </a:solidFill>
              </a:rPr>
              <a:t>New Patients Today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993392"/>
            <a:ext cx="5029200" cy="2286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Over Last 7 Days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233172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577840" y="1993392"/>
            <a:ext cx="3200400" cy="2286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15000" y="2084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</a:t>
            </a:r>
            <a:endParaRPr lang="en-US" sz="11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577840" y="2304288"/>
          <a:ext cx="32004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365760" y="4370832"/>
            <a:ext cx="8412480" cy="65836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02920" y="4434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0D4AA"/>
                </a:solidFill>
              </a:rPr>
              <a:t>TOP TESTS BY USAGE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02920" y="464515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CBC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868680" y="4416552"/>
            <a:ext cx="777240" cy="2011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2"/>
          <p:cNvSpPr/>
          <p:nvPr/>
        </p:nvSpPr>
        <p:spPr>
          <a:xfrm>
            <a:off x="502920" y="426110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42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167128" y="464515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Lipid Profile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2532888" y="4469239"/>
            <a:ext cx="777240" cy="148481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5"/>
          <p:cNvSpPr/>
          <p:nvPr/>
        </p:nvSpPr>
        <p:spPr>
          <a:xfrm>
            <a:off x="2167128" y="4313791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31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831336" y="464515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Blood Sugar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4197096" y="4483608"/>
            <a:ext cx="777240" cy="1341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28"/>
          <p:cNvSpPr/>
          <p:nvPr/>
        </p:nvSpPr>
        <p:spPr>
          <a:xfrm>
            <a:off x="3831336" y="4328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28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495544" y="464515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LFT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5861304" y="4526715"/>
            <a:ext cx="777240" cy="91005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5" name="Text 31"/>
          <p:cNvSpPr/>
          <p:nvPr/>
        </p:nvSpPr>
        <p:spPr>
          <a:xfrm>
            <a:off x="5495544" y="4371267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19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7159752" y="464515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0A8"/>
                </a:solidFill>
              </a:rPr>
              <a:t>Thyroid Panel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7525512" y="4560243"/>
            <a:ext cx="777240" cy="57477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8" name="Text 34"/>
          <p:cNvSpPr/>
          <p:nvPr/>
        </p:nvSpPr>
        <p:spPr>
          <a:xfrm>
            <a:off x="7159752" y="4404795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Advanced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</a:rPr>
              <a:t>Production-grade extras that make DLMS stand out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54864" cy="10789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04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dark (default) and light themes. Choice is persisted in localStorage — survives page refresh.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78992"/>
            <a:ext cx="54864" cy="107899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704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1170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55848" y="153619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(add, edit, delete, PDF, export) shows a color-coded toast with icon. Auto-dismisses after 3.5s.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078992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78992"/>
            <a:ext cx="54864" cy="107899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704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20840" y="1170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36208" y="153619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of the last 30 actions with timestamps. Stored in localStorage. 'Clear' button resets it.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86000"/>
            <a:ext cx="54864" cy="1078992"/>
          </a:xfrm>
          <a:prstGeom prst="rect">
            <a:avLst/>
          </a:prstGeom>
          <a:solidFill>
            <a:srgbClr val="F7C94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377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Caching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274320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collections cached in memory arrays after first load. No redundant Firestore reads during session.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2286000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286000"/>
            <a:ext cx="54864" cy="107899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377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048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55848" y="274320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modal validates: required fields, 10-digit phone, valid age (0-150), positive cost, etc.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286000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286000"/>
            <a:ext cx="54864" cy="1078992"/>
          </a:xfrm>
          <a:prstGeom prst="rect">
            <a:avLst/>
          </a:prstGeom>
          <a:solidFill>
            <a:srgbClr val="F75F5F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377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⌨️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2084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36208" y="274320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Escape anywhere to instantly close any open modal — no mouse required.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493008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493008"/>
            <a:ext cx="54864" cy="107899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584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60120" y="3584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" y="395020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has an Export CSV button. Generates a proper quoted CSV file and triggers browser download.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46120" y="3493008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3493008"/>
            <a:ext cx="54864" cy="1078992"/>
          </a:xfrm>
          <a:prstGeom prst="rect">
            <a:avLst/>
          </a:prstGeom>
          <a:solidFill>
            <a:srgbClr val="F7C94F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3584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840480" y="3584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Badges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55848" y="395020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shows live patient count badge and pending reports badge — updates every time data changes.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3493008"/>
            <a:ext cx="2697480" cy="107899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493008"/>
            <a:ext cx="54864" cy="107899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584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720840" y="3584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Firebase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36208" y="395020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reads/writes go directly to Firestore. Any update is immediately reflected for all users.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7C94F">
              <a:alpha val="10000"/>
            </a:srgbClr>
          </a:solidFill>
          <a:ln w="12700">
            <a:solidFill>
              <a:srgbClr val="F7C9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 Firebase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</a:rPr>
              <a:t>Authentication, real-time database, and seamless CDN integration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31920" cy="8046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54864" cy="8046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133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Firebase Auth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via OAuth 2.0. Secure, no passwords stored. Auth state observer redirects automatically.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931920" cy="8046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11680"/>
            <a:ext cx="54864" cy="80467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0665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Cloud Firestore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3500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collections: patients, tests, appointments, reports, billing. All queries use orderBy for sorted results.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3931920" cy="8046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44368"/>
            <a:ext cx="54864" cy="804672"/>
          </a:xfrm>
          <a:prstGeom prst="rect">
            <a:avLst/>
          </a:prstGeom>
          <a:solidFill>
            <a:srgbClr val="F7C94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C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Firebase CDN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2826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compat CDN — no bundler needed. Single script tag for app, auth, and firestore.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3931920" cy="8046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77056"/>
            <a:ext cx="54864" cy="804672"/>
          </a:xfrm>
          <a:prstGeom prst="rect">
            <a:avLst/>
          </a:prstGeom>
          <a:solidFill>
            <a:srgbClr val="F75F5F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2153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rules to: allow read, write: if request.auth != null — restricts data to authenticated users only.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1078992"/>
            <a:ext cx="4297680" cy="23317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1078992"/>
            <a:ext cx="42976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1155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firebase.config.js  — connected to dlms-aad22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144475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firebaseConfig = {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572000" y="162763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7C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apiKey: "AIzaSyBIoeviGp6n5..."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572000" y="181051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7C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authDomain: "dlms-aad22.firebaseapp.com",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572000" y="199339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7C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projectId: "dlms-aad22",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572000" y="217627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7C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messagingSenderId: "424970008181",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572000" y="235915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7C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appId: "1:424970008181:web:..."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572000" y="254203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572000" y="272491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firebase.initializeApp(firebaseConfig);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572000" y="290779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auth = firebase.auth();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572000" y="3090672"/>
            <a:ext cx="4114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 = firebase.firestore();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480560" y="3520440"/>
            <a:ext cx="4297680" cy="118872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177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Collections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3913632"/>
            <a:ext cx="749808" cy="594360"/>
          </a:xfrm>
          <a:prstGeom prst="roundRect">
            <a:avLst>
              <a:gd name="adj" fmla="val 10769"/>
            </a:avLst>
          </a:prstGeom>
          <a:solidFill>
            <a:srgbClr val="141720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39319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26280" y="42062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patients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349240" y="3913632"/>
            <a:ext cx="749808" cy="594360"/>
          </a:xfrm>
          <a:prstGeom prst="roundRect">
            <a:avLst>
              <a:gd name="adj" fmla="val 10769"/>
            </a:avLst>
          </a:prstGeom>
          <a:solidFill>
            <a:srgbClr val="141720"/>
          </a:solidFill>
          <a:ln/>
        </p:spPr>
      </p:sp>
      <p:sp>
        <p:nvSpPr>
          <p:cNvPr id="40" name="Text 38"/>
          <p:cNvSpPr/>
          <p:nvPr/>
        </p:nvSpPr>
        <p:spPr>
          <a:xfrm>
            <a:off x="5349240" y="39319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49240" y="42062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tests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172200" y="3913632"/>
            <a:ext cx="749808" cy="594360"/>
          </a:xfrm>
          <a:prstGeom prst="roundRect">
            <a:avLst>
              <a:gd name="adj" fmla="val 10769"/>
            </a:avLst>
          </a:prstGeom>
          <a:solidFill>
            <a:srgbClr val="141720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39319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72200" y="42062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appointments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995160" y="3913632"/>
            <a:ext cx="749808" cy="594360"/>
          </a:xfrm>
          <a:prstGeom prst="roundRect">
            <a:avLst>
              <a:gd name="adj" fmla="val 10769"/>
            </a:avLst>
          </a:prstGeom>
          <a:solidFill>
            <a:srgbClr val="141720"/>
          </a:solidFill>
          <a:ln/>
        </p:spPr>
      </p:sp>
      <p:sp>
        <p:nvSpPr>
          <p:cNvPr id="46" name="Text 44"/>
          <p:cNvSpPr/>
          <p:nvPr/>
        </p:nvSpPr>
        <p:spPr>
          <a:xfrm>
            <a:off x="6995160" y="39319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95160" y="42062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reports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818120" y="3913632"/>
            <a:ext cx="749808" cy="594360"/>
          </a:xfrm>
          <a:prstGeom prst="roundRect">
            <a:avLst>
              <a:gd name="adj" fmla="val 10769"/>
            </a:avLst>
          </a:prstGeom>
          <a:solidFill>
            <a:srgbClr val="141720"/>
          </a:solidFill>
          <a:ln/>
        </p:spPr>
      </p:sp>
      <p:sp>
        <p:nvSpPr>
          <p:cNvPr id="49" name="Text 47"/>
          <p:cNvSpPr/>
          <p:nvPr/>
        </p:nvSpPr>
        <p:spPr>
          <a:xfrm>
            <a:off x="7818120" y="39319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818120" y="42062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billing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UI / UX Design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</a:rPr>
              <a:t>Modern, responsive dashboard with consistent design language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521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</a:rPr>
              <a:t>COLOR PALETTE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960120" cy="2743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82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Dark BG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463040" y="1389888"/>
            <a:ext cx="960120" cy="274320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682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Sidebar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514600" y="1389888"/>
            <a:ext cx="960120" cy="274320"/>
          </a:xfrm>
          <a:prstGeom prst="rect">
            <a:avLst/>
          </a:prstGeom>
          <a:solidFill>
            <a:srgbClr val="1A1E2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682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Card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566160" y="1389888"/>
            <a:ext cx="96012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682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Accent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17720" y="1389888"/>
            <a:ext cx="960120" cy="27432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682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Blue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669280" y="1389888"/>
            <a:ext cx="960120" cy="274320"/>
          </a:xfrm>
          <a:prstGeom prst="rect">
            <a:avLst/>
          </a:prstGeom>
          <a:solidFill>
            <a:srgbClr val="F7C94F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682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Yellow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720840" y="1389888"/>
            <a:ext cx="960120" cy="274320"/>
          </a:xfrm>
          <a:prstGeom prst="rect">
            <a:avLst/>
          </a:prstGeom>
          <a:solidFill>
            <a:srgbClr val="F75F5F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1682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Danger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772400" y="1389888"/>
            <a:ext cx="960120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682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0A8"/>
                </a:solidFill>
              </a:rPr>
              <a:t>Purple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2029968"/>
            <a:ext cx="2029968" cy="1143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212140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250545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276148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columns, hover states, responsive overflow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42032" y="2029968"/>
            <a:ext cx="2029968" cy="1143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42032" y="212140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🪟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33472" y="250545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5184" y="276148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backdrop, scale animation, Escape to close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18304" y="2029968"/>
            <a:ext cx="2029968" cy="1143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18304" y="212140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09744" y="250545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91456" y="276148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types: success, error, info, warning with icons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94576" y="2029968"/>
            <a:ext cx="2029968" cy="1143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94576" y="212140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📛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86016" y="250545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67728" y="276148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pill badges with animated dot indicators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3310128"/>
            <a:ext cx="2029968" cy="1143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34015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57200" y="378561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8912" y="40416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search with SVG icon, placeholder text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42032" y="3310128"/>
            <a:ext cx="2029968" cy="1143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42032" y="34015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2633472" y="378561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15184" y="40416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controls, record count, smart page range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18304" y="3310128"/>
            <a:ext cx="2029968" cy="1143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18304" y="34015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4809744" y="378561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91456" y="40416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Icon, large number, label — hover lift effect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94576" y="3310128"/>
            <a:ext cx="2029968" cy="11430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894576" y="34015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986016" y="3785616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67728" y="40416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grid for one-click module access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solidFill>
            <a:srgbClr val="141720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  Syne (display/headings) + DM Sans (body)   |   CSS Variables for full theming   |   Responsive via auto-fit grid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0A8"/>
                </a:solidFill>
              </a:rPr>
              <a:t>Everything DLMS delivers in one place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Firebase Auth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7647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with profile display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371600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Patient Module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7647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+ search + sort + pagination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18304" y="1371600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371600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Catalog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17647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tests with costs used across billing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94576" y="1371600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94576" y="1371600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7004304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Appointments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04304" y="17647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filter by date, mark complete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450592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450592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🧫  Samples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284378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collection with timestamp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42032" y="2450592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42032" y="2450592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Reports + PDF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284378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 with styled PDF download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18304" y="2450592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2450592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Billing + Invoice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28032" y="284378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Multi-test bills, payment tracking, PDF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94576" y="2450592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94576" y="2450592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7004304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04304" y="284378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doughnut chart, top tests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529584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529584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Dark/Light Mode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" y="39227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 with localStorage persistence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42032" y="3529584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42032" y="3529584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4" name="Text 42"/>
          <p:cNvSpPr/>
          <p:nvPr/>
        </p:nvSpPr>
        <p:spPr>
          <a:xfrm>
            <a:off x="2651760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CSV Export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51760" y="39227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exports to spreadsheet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18304" y="3529584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18304" y="3529584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8" name="Text 46"/>
          <p:cNvSpPr/>
          <p:nvPr/>
        </p:nvSpPr>
        <p:spPr>
          <a:xfrm>
            <a:off x="4828032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28032" y="39227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data, minimal Firestore reads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94576" y="3529584"/>
            <a:ext cx="2029968" cy="932688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94576" y="3529584"/>
            <a:ext cx="54864" cy="9326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2" name="Text 50"/>
          <p:cNvSpPr/>
          <p:nvPr/>
        </p:nvSpPr>
        <p:spPr>
          <a:xfrm>
            <a:off x="7004304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Responsive UI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04304" y="39227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dashboard, cards, modals, badges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DLMS  —  Built with HTML · CSS · Vanilla JS · Firebase · jsPDF · Chart.js  |  Single-file • Production-ready • Real-time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DLMS — Diagnostic Laboratory Management System</dc:title>
  <dc:subject>PptxGenJS Presentation</dc:subject>
  <dc:creator>DLMS Team</dc:creator>
  <cp:lastModifiedBy>DLMS Team</cp:lastModifiedBy>
  <cp:revision>1</cp:revision>
  <dcterms:created xsi:type="dcterms:W3CDTF">2026-04-21T04:42:17Z</dcterms:created>
  <dcterms:modified xsi:type="dcterms:W3CDTF">2026-04-21T04:42:17Z</dcterms:modified>
</cp:coreProperties>
</file>